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7D5FF"/>
                </a:solidFill>
                <a:latin typeface="Aptos"/>
              </a:rPr>
              <a:t>AI • CYBERSECURITY • THREAT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195" y="3060445"/>
            <a:ext cx="5852160" cy="15234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3100" b="1" dirty="0">
                <a:solidFill>
                  <a:srgbClr val="F4F8FF"/>
                </a:solidFill>
                <a:latin typeface="Aptos"/>
              </a:rPr>
              <a:t>Security Operations Dashboard for Threat Detection and Risk Mitigation Analytics</a:t>
            </a:r>
            <a:endParaRPr sz="3100" b="1" dirty="0">
              <a:solidFill>
                <a:srgbClr val="F4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2304288"/>
            <a:ext cx="1920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EB2D0"/>
                </a:solidFill>
                <a:latin typeface="Aptos"/>
              </a:rPr>
              <a:t>PROJECT PRESENTATION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7246620" y="1824228"/>
            <a:ext cx="3154680" cy="3154680"/>
          </a:xfrm>
          <a:prstGeom prst="ellipse">
            <a:avLst/>
          </a:prstGeom>
          <a:solidFill>
            <a:srgbClr val="060D1D"/>
          </a:solidFill>
          <a:ln w="17780">
            <a:solidFill>
              <a:srgbClr val="18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58100" y="2235708"/>
            <a:ext cx="2331720" cy="2331720"/>
          </a:xfrm>
          <a:prstGeom prst="ellipse">
            <a:avLst/>
          </a:prstGeom>
          <a:solidFill>
            <a:srgbClr val="060D1D"/>
          </a:solidFill>
          <a:ln w="17780">
            <a:solidFill>
              <a:srgbClr val="4A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37576" y="2615184"/>
            <a:ext cx="1572768" cy="1572768"/>
          </a:xfrm>
          <a:prstGeom prst="ellipse">
            <a:avLst/>
          </a:prstGeom>
          <a:solidFill>
            <a:srgbClr val="060D1D"/>
          </a:solidFill>
          <a:ln w="17780">
            <a:solidFill>
              <a:srgbClr val="9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03336" y="2980944"/>
            <a:ext cx="841248" cy="841248"/>
          </a:xfrm>
          <a:prstGeom prst="ellipse">
            <a:avLst/>
          </a:prstGeom>
          <a:solidFill>
            <a:srgbClr val="060D1D"/>
          </a:solidFill>
          <a:ln w="17780"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41080" y="3218688"/>
            <a:ext cx="365760" cy="365760"/>
          </a:xfrm>
          <a:prstGeom prst="ellipse">
            <a:avLst/>
          </a:prstGeom>
          <a:solidFill>
            <a:srgbClr val="F4F8FF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36403" y="2550842"/>
            <a:ext cx="128016" cy="128016"/>
          </a:xfrm>
          <a:prstGeom prst="ellipse">
            <a:avLst/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88931" y="2733722"/>
            <a:ext cx="822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27D5FF"/>
                </a:solidFill>
                <a:latin typeface="Aptos"/>
              </a:rPr>
              <a:t>EVENTS</a:t>
            </a:r>
          </a:p>
        </p:txBody>
      </p:sp>
      <p:sp>
        <p:nvSpPr>
          <p:cNvPr id="13" name="Oval 12"/>
          <p:cNvSpPr/>
          <p:nvPr/>
        </p:nvSpPr>
        <p:spPr>
          <a:xfrm>
            <a:off x="9729819" y="2367692"/>
            <a:ext cx="128016" cy="128016"/>
          </a:xfrm>
          <a:prstGeom prst="ellipse">
            <a:avLst/>
          </a:prstGeom>
          <a:solidFill>
            <a:srgbClr val="9D5BFF"/>
          </a:solidFill>
          <a:ln>
            <a:solidFill>
              <a:srgbClr val="9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82347" y="2550572"/>
            <a:ext cx="822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9D5BFF"/>
                </a:solidFill>
                <a:latin typeface="Aptos"/>
              </a:rPr>
              <a:t>AI</a:t>
            </a:r>
          </a:p>
        </p:txBody>
      </p:sp>
      <p:sp>
        <p:nvSpPr>
          <p:cNvPr id="15" name="Oval 14"/>
          <p:cNvSpPr/>
          <p:nvPr/>
        </p:nvSpPr>
        <p:spPr>
          <a:xfrm>
            <a:off x="10003043" y="3917223"/>
            <a:ext cx="128016" cy="128016"/>
          </a:xfrm>
          <a:prstGeom prst="ellipse">
            <a:avLst/>
          </a:prstGeom>
          <a:solidFill>
            <a:srgbClr val="FFAE48"/>
          </a:solidFill>
          <a:ln>
            <a:solidFill>
              <a:srgbClr val="FFA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55571" y="4100103"/>
            <a:ext cx="822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AE48"/>
                </a:solidFill>
                <a:latin typeface="Aptos"/>
              </a:rPr>
              <a:t>RISK</a:t>
            </a:r>
          </a:p>
        </p:txBody>
      </p:sp>
      <p:sp>
        <p:nvSpPr>
          <p:cNvPr id="17" name="Oval 16"/>
          <p:cNvSpPr/>
          <p:nvPr/>
        </p:nvSpPr>
        <p:spPr>
          <a:xfrm>
            <a:off x="7636403" y="4124277"/>
            <a:ext cx="128016" cy="128016"/>
          </a:xfrm>
          <a:prstGeom prst="ellipse">
            <a:avLst/>
          </a:prstGeom>
          <a:solidFill>
            <a:srgbClr val="31DC8B"/>
          </a:solidFill>
          <a:ln>
            <a:solidFill>
              <a:srgbClr val="31D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88931" y="4307157"/>
            <a:ext cx="822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31DC8B"/>
                </a:solidFill>
                <a:latin typeface="Aptos"/>
              </a:rPr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336792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EB2D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76FF"/>
          </a:solidFill>
          <a:ln>
            <a:solidFill>
              <a:srgbClr val="4A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A76FF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A76FF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Aptos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EB2D0"/>
                </a:solidFill>
                <a:latin typeface="Aptos"/>
              </a:rPr>
              <a:t>One screen to understand security activity, risk and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336792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EB2D0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36792"/>
            <a:ext cx="5303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EB2D0"/>
                </a:solidFill>
                <a:latin typeface="Aptos"/>
              </a:rPr>
              <a:t>AI-Assisted Threat Detection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3401568" cy="1874519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3401568" cy="54864"/>
          </a:xfrm>
          <a:prstGeom prst="rect">
            <a:avLst/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14884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7D5FF"/>
                </a:solidFill>
                <a:latin typeface="Aptos"/>
              </a:rP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67004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Collect and view security events in one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74519"/>
            <a:ext cx="3401568" cy="1874519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5696" y="1874519"/>
            <a:ext cx="3401568" cy="54864"/>
          </a:xfrm>
          <a:prstGeom prst="rect">
            <a:avLst/>
          </a:prstGeom>
          <a:solidFill>
            <a:srgbClr val="9D5BFF"/>
          </a:solidFill>
          <a:ln>
            <a:solidFill>
              <a:srgbClr val="9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214884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D5BFF"/>
                </a:solidFill>
                <a:latin typeface="Aptos"/>
              </a:rP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67004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Use AI-assisted signals to surface unusual activity.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874519"/>
            <a:ext cx="3401568" cy="1874519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93024" y="1874519"/>
            <a:ext cx="3401568" cy="54864"/>
          </a:xfrm>
          <a:prstGeom prst="rect">
            <a:avLst/>
          </a:prstGeom>
          <a:solidFill>
            <a:srgbClr val="31DC8B"/>
          </a:solidFill>
          <a:ln>
            <a:solidFill>
              <a:srgbClr val="31D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1DC8B"/>
                </a:solidFill>
                <a:latin typeface="Aptos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7004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Prioritize incidents and support faster investigation.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60520"/>
            <a:ext cx="10863072" cy="1325880"/>
          </a:xfrm>
          <a:prstGeom prst="roundRect">
            <a:avLst>
              <a:gd name="adj" fmla="val 8000"/>
            </a:avLst>
          </a:prstGeom>
          <a:solidFill>
            <a:srgbClr val="13233E"/>
          </a:solidFill>
          <a:ln>
            <a:solidFill>
              <a:srgbClr val="13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407408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EB2D0"/>
                </a:solidFill>
                <a:latin typeface="Aptos"/>
              </a:rPr>
              <a:t>PROJECT 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379976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Raw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352544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7D5FF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379976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AI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352544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9D5BFF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379976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Risk Priority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352544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AE48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379976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Analyst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83480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9EB2D0"/>
                </a:solidFill>
                <a:latin typeface="Aptos"/>
              </a:rPr>
              <a:t>The dashboard turns security data into an easy-to-follow decision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5269"/>
          </a:solidFill>
          <a:ln>
            <a:solidFill>
              <a:srgbClr val="FF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5269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5269"/>
                </a:solidFill>
                <a:latin typeface="Aptos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Aptos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EB2D0"/>
                </a:solidFill>
                <a:latin typeface="Aptos"/>
              </a:rPr>
              <a:t>Why a smarter threat-monitoring workflow is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336792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EB2D0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36792"/>
            <a:ext cx="5303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EB2D0"/>
                </a:solidFill>
                <a:latin typeface="Aptos"/>
              </a:rPr>
              <a:t>AI-Assisted Threat Detection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5230368" cy="14630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9536" y="209397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F5269"/>
          </a:solidFill>
          <a:ln>
            <a:solidFill>
              <a:srgbClr val="FF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11226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60D1D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2057400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5269"/>
                </a:solidFill>
                <a:latin typeface="Aptos"/>
              </a:rPr>
              <a:t>ALERT OVERLOAD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2459736"/>
            <a:ext cx="3794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Large volumes of alerts make it difficult to spot the important 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47088"/>
            <a:ext cx="5230368" cy="14630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19088" y="209397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FAE48"/>
          </a:solidFill>
          <a:ln>
            <a:solidFill>
              <a:srgbClr val="FFA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211226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60D1D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057400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AE48"/>
                </a:solidFill>
                <a:latin typeface="Aptos"/>
              </a:rPr>
              <a:t>SLOW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459736"/>
            <a:ext cx="3794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Analysts spend time sorting and correlating events manually.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75887"/>
            <a:ext cx="5230368" cy="14630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59536" y="3922775"/>
            <a:ext cx="502920" cy="502920"/>
          </a:xfrm>
          <a:prstGeom prst="roundRect">
            <a:avLst>
              <a:gd name="adj" fmla="val 8000"/>
            </a:avLst>
          </a:prstGeom>
          <a:solidFill>
            <a:srgbClr val="9D5BFF"/>
          </a:solidFill>
          <a:ln>
            <a:solidFill>
              <a:srgbClr val="9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3941063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60D1D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3886200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9D5BFF"/>
                </a:solidFill>
                <a:latin typeface="Aptos"/>
              </a:rPr>
              <a:t>HIDDEN ANOMALIES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288536"/>
            <a:ext cx="3794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Unusual behavior can be missed when it does not match a fixed rule.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75887"/>
            <a:ext cx="5230368" cy="14630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19088" y="3922775"/>
            <a:ext cx="502920" cy="502920"/>
          </a:xfrm>
          <a:prstGeom prst="roundRect">
            <a:avLst>
              <a:gd name="adj" fmla="val 8000"/>
            </a:avLst>
          </a:prstGeom>
          <a:solidFill>
            <a:srgbClr val="4A76FF"/>
          </a:solidFill>
          <a:ln>
            <a:solidFill>
              <a:srgbClr val="4A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3941063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60D1D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3886200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A76FF"/>
                </a:solidFill>
                <a:latin typeface="Aptos"/>
              </a:rPr>
              <a:t>FRAGMENTED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4288536"/>
            <a:ext cx="3794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Logs, risk and incident status may be spread across different views.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5486400"/>
            <a:ext cx="6629400" cy="365760"/>
          </a:xfrm>
          <a:prstGeom prst="roundRect">
            <a:avLst>
              <a:gd name="adj" fmla="val 8000"/>
            </a:avLst>
          </a:prstGeom>
          <a:solidFill>
            <a:srgbClr val="13233E"/>
          </a:solidFill>
          <a:ln>
            <a:solidFill>
              <a:srgbClr val="13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71800" y="5532120"/>
            <a:ext cx="6263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7D5FF"/>
                </a:solidFill>
                <a:latin typeface="Aptos"/>
              </a:rPr>
              <a:t>GOAL  →  reduce noise and bring attention to what matters 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7D5FF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7D5FF"/>
                </a:solidFill>
                <a:latin typeface="Apto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Aptos"/>
              </a:rPr>
              <a:t>What the Project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EB2D0"/>
                </a:solidFill>
                <a:latin typeface="Aptos"/>
              </a:rPr>
              <a:t>Five outcomes that define the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336792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EB2D0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36792"/>
            <a:ext cx="5303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EB2D0"/>
                </a:solidFill>
                <a:latin typeface="Aptos"/>
              </a:rPr>
              <a:t>AI-Assisted Threat Detection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1993392" cy="28346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07007" y="2084831"/>
            <a:ext cx="713232" cy="713232"/>
          </a:xfrm>
          <a:prstGeom prst="ellipse">
            <a:avLst/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2276856"/>
            <a:ext cx="53035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60D1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182112"/>
            <a:ext cx="17190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7D5FF"/>
                </a:solidFill>
                <a:latin typeface="Aptos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157276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4F8FF"/>
                </a:solidFill>
                <a:latin typeface="Aptos"/>
              </a:rPr>
              <a:t>Identify suspicious events 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928" y="1874519"/>
            <a:ext cx="1993392" cy="28346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93008" y="2084831"/>
            <a:ext cx="713232" cy="713232"/>
          </a:xfrm>
          <a:prstGeom prst="ellipse">
            <a:avLst/>
          </a:prstGeom>
          <a:solidFill>
            <a:srgbClr val="FF5269"/>
          </a:solidFill>
          <a:ln>
            <a:solidFill>
              <a:srgbClr val="FF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84448" y="2276856"/>
            <a:ext cx="53035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60D1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82112"/>
            <a:ext cx="17190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5269"/>
                </a:solidFill>
                <a:latin typeface="Aptos"/>
              </a:rPr>
              <a:t>PRIORITIZE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703320"/>
            <a:ext cx="157276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4F8FF"/>
                </a:solidFill>
                <a:latin typeface="Aptos"/>
              </a:rPr>
              <a:t>Rank incidents by severity and urgency.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8928" y="1874519"/>
            <a:ext cx="1993392" cy="28346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79008" y="2084831"/>
            <a:ext cx="713232" cy="713232"/>
          </a:xfrm>
          <a:prstGeom prst="ellipse">
            <a:avLst/>
          </a:prstGeom>
          <a:solidFill>
            <a:srgbClr val="4A76FF"/>
          </a:solidFill>
          <a:ln>
            <a:solidFill>
              <a:srgbClr val="4A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70448" y="2276856"/>
            <a:ext cx="53035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60D1D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182112"/>
            <a:ext cx="17190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4A76FF"/>
                </a:solidFill>
                <a:latin typeface="Aptos"/>
              </a:rPr>
              <a:t>VISUALIZE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703320"/>
            <a:ext cx="157276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4F8FF"/>
                </a:solidFill>
                <a:latin typeface="Aptos"/>
              </a:rPr>
              <a:t>Show security status at a glance.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24927" y="1874519"/>
            <a:ext cx="1993392" cy="28346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65007" y="2084831"/>
            <a:ext cx="713232" cy="713232"/>
          </a:xfrm>
          <a:prstGeom prst="ellipse">
            <a:avLst/>
          </a:prstGeom>
          <a:solidFill>
            <a:srgbClr val="9D5BFF"/>
          </a:solidFill>
          <a:ln>
            <a:solidFill>
              <a:srgbClr val="9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56448" y="2276856"/>
            <a:ext cx="53035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60D1D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3182112"/>
            <a:ext cx="17190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9D5BFF"/>
                </a:solidFill>
                <a:latin typeface="Aptos"/>
              </a:rPr>
              <a:t>INVESTIGATE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703320"/>
            <a:ext cx="157276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4F8FF"/>
                </a:solidFill>
                <a:latin typeface="Aptos"/>
              </a:rPr>
              <a:t>Provide context around a threat.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10928" y="1874519"/>
            <a:ext cx="1993392" cy="28346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51007" y="2084831"/>
            <a:ext cx="713232" cy="713232"/>
          </a:xfrm>
          <a:prstGeom prst="ellipse">
            <a:avLst/>
          </a:prstGeom>
          <a:solidFill>
            <a:srgbClr val="31DC8B"/>
          </a:solidFill>
          <a:ln>
            <a:solidFill>
              <a:srgbClr val="31D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42448" y="2276856"/>
            <a:ext cx="53035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60D1D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3182112"/>
            <a:ext cx="17190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1DC8B"/>
                </a:solidFill>
                <a:latin typeface="Aptos"/>
              </a:rPr>
              <a:t>RESPOND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703320"/>
            <a:ext cx="157276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4F8FF"/>
                </a:solidFill>
                <a:latin typeface="Aptos"/>
              </a:rPr>
              <a:t>Track an incident through resolution.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5230368"/>
            <a:ext cx="8275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9EB2D0"/>
                </a:solidFill>
                <a:latin typeface="Aptos"/>
              </a:rPr>
              <a:t>DETECT  •  PRIORITIZE  •  VISUALIZE  •  INVESTIGATE  •  RESPOND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5BFF"/>
          </a:solidFill>
          <a:ln>
            <a:solidFill>
              <a:srgbClr val="9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D5BFF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D5BFF"/>
                </a:solidFill>
                <a:latin typeface="Aptos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Aptos"/>
              </a:rPr>
              <a:t>How the System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EB2D0"/>
                </a:solidFill>
                <a:latin typeface="Aptos"/>
              </a:rPr>
              <a:t>A simple end-to-end flow from event to actionable alert.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336792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EB2D0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36792"/>
            <a:ext cx="5303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EB2D0"/>
                </a:solidFill>
                <a:latin typeface="Aptos"/>
              </a:rPr>
              <a:t>AI-Assisted Threat Detection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65960"/>
            <a:ext cx="1901952" cy="19202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7824" y="2240280"/>
            <a:ext cx="1207008" cy="438912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304288"/>
            <a:ext cx="106070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60D1D"/>
                </a:solidFill>
                <a:latin typeface="Aptos"/>
              </a:rPr>
              <a:t>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017520"/>
            <a:ext cx="160934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4F8FF"/>
                </a:solidFill>
                <a:latin typeface="Aptos"/>
              </a:rPr>
              <a:t>Logs • endpoints •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24912"/>
            <a:ext cx="32918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965960"/>
            <a:ext cx="1901952" cy="19202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182112" y="2240280"/>
            <a:ext cx="1207008" cy="438912"/>
          </a:xfrm>
          <a:prstGeom prst="roundRect">
            <a:avLst>
              <a:gd name="adj" fmla="val 8000"/>
            </a:avLst>
          </a:prstGeom>
          <a:solidFill>
            <a:srgbClr val="4A76FF"/>
          </a:solidFill>
          <a:ln>
            <a:solidFill>
              <a:srgbClr val="4A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5264" y="2304288"/>
            <a:ext cx="106070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60D1D"/>
                </a:solidFill>
                <a:latin typeface="Aptos"/>
              </a:rPr>
              <a:t>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44" y="3017520"/>
            <a:ext cx="160934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4F8FF"/>
                </a:solidFill>
                <a:latin typeface="Aptos"/>
              </a:rPr>
              <a:t>Collect • normalize • enrich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724912"/>
            <a:ext cx="32918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8928" y="1965960"/>
            <a:ext cx="1901952" cy="19202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0" y="2240280"/>
            <a:ext cx="1207008" cy="438912"/>
          </a:xfrm>
          <a:prstGeom prst="roundRect">
            <a:avLst>
              <a:gd name="adj" fmla="val 8000"/>
            </a:avLst>
          </a:prstGeom>
          <a:solidFill>
            <a:srgbClr val="9D5BFF"/>
          </a:solidFill>
          <a:ln>
            <a:solidFill>
              <a:srgbClr val="9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59552" y="2304288"/>
            <a:ext cx="106070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60D1D"/>
                </a:solidFill>
                <a:latin typeface="Aptos"/>
              </a:rPr>
              <a:t>AI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017520"/>
            <a:ext cx="160934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4F8FF"/>
                </a:solidFill>
                <a:latin typeface="Aptos"/>
              </a:rPr>
              <a:t>Anomaly • correlation •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2724912"/>
            <a:ext cx="32918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43216" y="1965960"/>
            <a:ext cx="1901952" cy="19202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790688" y="2240280"/>
            <a:ext cx="1207008" cy="438912"/>
          </a:xfrm>
          <a:prstGeom prst="roundRect">
            <a:avLst>
              <a:gd name="adj" fmla="val 8000"/>
            </a:avLst>
          </a:prstGeom>
          <a:solidFill>
            <a:srgbClr val="FFAE48"/>
          </a:solidFill>
          <a:ln>
            <a:solidFill>
              <a:srgbClr val="FFA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2304288"/>
            <a:ext cx="106070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60D1D"/>
                </a:solidFill>
                <a:latin typeface="Aptos"/>
              </a:rPr>
              <a:t>RISK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017520"/>
            <a:ext cx="160934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4F8FF"/>
                </a:solidFill>
                <a:latin typeface="Aptos"/>
              </a:rPr>
              <a:t>Severity • confidence •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2724912"/>
            <a:ext cx="32918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47504" y="1965960"/>
            <a:ext cx="1901952" cy="192024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094976" y="2240280"/>
            <a:ext cx="1207008" cy="438912"/>
          </a:xfrm>
          <a:prstGeom prst="roundRect">
            <a:avLst>
              <a:gd name="adj" fmla="val 8000"/>
            </a:avLst>
          </a:prstGeom>
          <a:solidFill>
            <a:srgbClr val="31DC8B"/>
          </a:solidFill>
          <a:ln>
            <a:solidFill>
              <a:srgbClr val="31D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68128" y="2304288"/>
            <a:ext cx="106070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60D1D"/>
                </a:solidFill>
                <a:latin typeface="Aptos"/>
              </a:rPr>
              <a:t>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8" y="3017520"/>
            <a:ext cx="160934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4F8FF"/>
                </a:solidFill>
                <a:latin typeface="Aptos"/>
              </a:rPr>
              <a:t>KPIs • alerts • incidents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65960" y="4572000"/>
            <a:ext cx="8275320" cy="749808"/>
          </a:xfrm>
          <a:prstGeom prst="roundRect">
            <a:avLst>
              <a:gd name="adj" fmla="val 8000"/>
            </a:avLst>
          </a:prstGeom>
          <a:solidFill>
            <a:srgbClr val="13233E"/>
          </a:solidFill>
          <a:ln>
            <a:solidFill>
              <a:srgbClr val="13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94560" y="4745736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7D5FF"/>
                </a:solidFill>
                <a:latin typeface="Aptos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4745736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9D5BFF"/>
                </a:solidFill>
                <a:latin typeface="Aptos"/>
              </a:rPr>
              <a:t>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745736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AE48"/>
                </a:solidFill>
                <a:latin typeface="Aptos"/>
              </a:rPr>
              <a:t>PRIORITY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745736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31DC8B"/>
                </a:solidFill>
                <a:latin typeface="Aptos"/>
              </a:rPr>
              <a:t>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76FF"/>
          </a:solidFill>
          <a:ln>
            <a:solidFill>
              <a:srgbClr val="4A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A76FF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A76FF"/>
                </a:solidFill>
                <a:latin typeface="Aptos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Aptos"/>
              </a:rPr>
              <a:t>Security Operations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EB2D0"/>
                </a:solidFill>
                <a:latin typeface="Aptos"/>
              </a:rPr>
              <a:t>A visual layout for fast monitoring and triage.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336792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EB2D0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36792"/>
            <a:ext cx="5303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EB2D0"/>
                </a:solidFill>
                <a:latin typeface="Aptos"/>
              </a:rPr>
              <a:t>AI-Assisted Threat Detection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10881360" cy="361188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1417320" cy="3611880"/>
          </a:xfrm>
          <a:prstGeom prst="roundRect">
            <a:avLst>
              <a:gd name="adj" fmla="val 8000"/>
            </a:avLst>
          </a:prstGeom>
          <a:solidFill>
            <a:srgbClr val="13233E"/>
          </a:solidFill>
          <a:ln>
            <a:solidFill>
              <a:srgbClr val="13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8" y="2148840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157984"/>
            <a:ext cx="1024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60D1D"/>
                </a:solidFill>
                <a:latin typeface="Aptos"/>
              </a:rPr>
              <a:t>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715768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182B48"/>
          </a:solidFill>
          <a:ln>
            <a:solidFill>
              <a:srgbClr val="18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724912"/>
            <a:ext cx="1024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9EB2D0"/>
                </a:solidFill>
                <a:latin typeface="Aptos"/>
              </a:rPr>
              <a:t>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82696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182B48"/>
          </a:solidFill>
          <a:ln>
            <a:solidFill>
              <a:srgbClr val="18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291839"/>
            <a:ext cx="1024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9EB2D0"/>
                </a:solidFill>
                <a:latin typeface="Aptos"/>
              </a:rPr>
              <a:t>Threats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849624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182B48"/>
          </a:solidFill>
          <a:ln>
            <a:solidFill>
              <a:srgbClr val="18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3858768"/>
            <a:ext cx="1024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9EB2D0"/>
                </a:solidFill>
                <a:latin typeface="Aptos"/>
              </a:rPr>
              <a:t>Incidents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416552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182B48"/>
          </a:solidFill>
          <a:ln>
            <a:solidFill>
              <a:srgbClr val="18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425696"/>
            <a:ext cx="1024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9EB2D0"/>
                </a:solidFill>
                <a:latin typeface="Aptos"/>
              </a:rPr>
              <a:t>Reports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59152" y="2057400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162745"/>
          </a:solidFill>
          <a:ln>
            <a:solidFill>
              <a:srgbClr val="16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219456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9EB2D0"/>
                </a:solidFill>
                <a:latin typeface="Apto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139696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FF5269"/>
                </a:solidFill>
                <a:latin typeface="Aptos"/>
              </a:rPr>
              <a:t>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2057400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162745"/>
          </a:solidFill>
          <a:ln>
            <a:solidFill>
              <a:srgbClr val="16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8" y="219456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9EB2D0"/>
                </a:solidFill>
                <a:latin typeface="Aptos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4728" y="2139696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FFAE48"/>
                </a:solidFill>
                <a:latin typeface="Aptos"/>
              </a:rPr>
              <a:t>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93408" y="2057400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162745"/>
          </a:solidFill>
          <a:ln>
            <a:solidFill>
              <a:srgbClr val="16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03136" y="219456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9EB2D0"/>
                </a:solidFill>
                <a:latin typeface="Aptos"/>
              </a:rPr>
              <a:t>ANOMALIES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2139696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9D5BFF"/>
                </a:solidFill>
                <a:latin typeface="Aptos"/>
              </a:rPr>
              <a:t>08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0536" y="2057400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162745"/>
          </a:solidFill>
          <a:ln>
            <a:solidFill>
              <a:srgbClr val="16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70264" y="219456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9EB2D0"/>
                </a:solidFill>
                <a:latin typeface="Aptos"/>
              </a:rPr>
              <a:t>RESOLVED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58984" y="2139696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31DC8B"/>
                </a:solidFill>
                <a:latin typeface="Aptos"/>
              </a:rPr>
              <a:t>61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59152" y="3017520"/>
            <a:ext cx="5074920" cy="2011680"/>
          </a:xfrm>
          <a:prstGeom prst="roundRect">
            <a:avLst>
              <a:gd name="adj" fmla="val 8000"/>
            </a:avLst>
          </a:prstGeom>
          <a:solidFill>
            <a:srgbClr val="162745"/>
          </a:solidFill>
          <a:ln>
            <a:solidFill>
              <a:srgbClr val="16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78608" y="3218688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EB2D0"/>
                </a:solidFill>
                <a:latin typeface="Aptos"/>
              </a:rPr>
              <a:t>THREAT ACTIVITY • 24 HOURS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70048" y="4249674"/>
            <a:ext cx="210312" cy="432054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063240" y="4002786"/>
            <a:ext cx="210312" cy="678942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456432" y="4163263"/>
            <a:ext cx="210312" cy="518464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849624" y="3842308"/>
            <a:ext cx="210312" cy="839419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242816" y="4052163"/>
            <a:ext cx="210312" cy="629564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636008" y="3768242"/>
            <a:ext cx="210312" cy="913485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029200" y="3965752"/>
            <a:ext cx="210312" cy="715975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22392" y="3546043"/>
            <a:ext cx="210312" cy="1135684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815583" y="3829964"/>
            <a:ext cx="210312" cy="851763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208776" y="3669487"/>
            <a:ext cx="210312" cy="1012240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601968" y="3904030"/>
            <a:ext cx="210312" cy="777697"/>
          </a:xfrm>
          <a:prstGeom prst="roundRect">
            <a:avLst>
              <a:gd name="adj" fmla="val 8000"/>
            </a:avLst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680960" y="3017520"/>
            <a:ext cx="3127248" cy="2011680"/>
          </a:xfrm>
          <a:prstGeom prst="roundRect">
            <a:avLst>
              <a:gd name="adj" fmla="val 8000"/>
            </a:avLst>
          </a:prstGeom>
          <a:solidFill>
            <a:srgbClr val="162745"/>
          </a:solidFill>
          <a:ln>
            <a:solidFill>
              <a:srgbClr val="16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09560" y="3218688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EB2D0"/>
                </a:solidFill>
                <a:latin typeface="Aptos"/>
              </a:rPr>
              <a:t>PRIORITY ALERTS</a:t>
            </a:r>
          </a:p>
        </p:txBody>
      </p:sp>
      <p:sp>
        <p:nvSpPr>
          <p:cNvPr id="48" name="Oval 47"/>
          <p:cNvSpPr/>
          <p:nvPr/>
        </p:nvSpPr>
        <p:spPr>
          <a:xfrm>
            <a:off x="7909559" y="3648456"/>
            <a:ext cx="91440" cy="91440"/>
          </a:xfrm>
          <a:prstGeom prst="ellipse">
            <a:avLst/>
          </a:prstGeom>
          <a:solidFill>
            <a:srgbClr val="FF5269"/>
          </a:solidFill>
          <a:ln>
            <a:solidFill>
              <a:srgbClr val="FF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83296" y="3593592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F4F8FF"/>
                </a:solidFill>
                <a:latin typeface="Aptos"/>
              </a:rPr>
              <a:t>Repeated login failures</a:t>
            </a:r>
          </a:p>
        </p:txBody>
      </p:sp>
      <p:sp>
        <p:nvSpPr>
          <p:cNvPr id="50" name="Oval 49"/>
          <p:cNvSpPr/>
          <p:nvPr/>
        </p:nvSpPr>
        <p:spPr>
          <a:xfrm>
            <a:off x="7909559" y="4041648"/>
            <a:ext cx="91440" cy="91440"/>
          </a:xfrm>
          <a:prstGeom prst="ellipse">
            <a:avLst/>
          </a:prstGeom>
          <a:solidFill>
            <a:srgbClr val="FFAE48"/>
          </a:solidFill>
          <a:ln>
            <a:solidFill>
              <a:srgbClr val="FFA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83296" y="3986784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F4F8FF"/>
                </a:solidFill>
                <a:latin typeface="Aptos"/>
              </a:rPr>
              <a:t>Unusual outbound traffic</a:t>
            </a:r>
          </a:p>
        </p:txBody>
      </p:sp>
      <p:sp>
        <p:nvSpPr>
          <p:cNvPr id="52" name="Oval 51"/>
          <p:cNvSpPr/>
          <p:nvPr/>
        </p:nvSpPr>
        <p:spPr>
          <a:xfrm>
            <a:off x="7909559" y="4434840"/>
            <a:ext cx="91440" cy="91440"/>
          </a:xfrm>
          <a:prstGeom prst="ellipse">
            <a:avLst/>
          </a:prstGeom>
          <a:solidFill>
            <a:srgbClr val="FFAE48"/>
          </a:solidFill>
          <a:ln>
            <a:solidFill>
              <a:srgbClr val="FFA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83296" y="4379976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F4F8FF"/>
                </a:solidFill>
                <a:latin typeface="Aptos"/>
              </a:rPr>
              <a:t>New privileged account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12680" y="2212848"/>
            <a:ext cx="640080" cy="347472"/>
          </a:xfrm>
          <a:prstGeom prst="roundRect">
            <a:avLst>
              <a:gd name="adj" fmla="val 8000"/>
            </a:avLst>
          </a:prstGeom>
          <a:solidFill>
            <a:srgbClr val="31DC8B"/>
          </a:solidFill>
          <a:ln>
            <a:solidFill>
              <a:srgbClr val="31D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012680" y="2221991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60D1D"/>
                </a:solidFill>
                <a:latin typeface="Aptos"/>
              </a:rPr>
              <a:t>LIVE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AE48"/>
          </a:solidFill>
          <a:ln>
            <a:solidFill>
              <a:srgbClr val="FFA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AE48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AE48"/>
                </a:solidFill>
                <a:latin typeface="Aptos"/>
              </a:rPr>
              <a:t>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Aptos"/>
              </a:rPr>
              <a:t>AI-Assisted Threat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EB2D0"/>
                </a:solidFill>
                <a:latin typeface="Aptos"/>
              </a:rPr>
              <a:t>How the system turns behavior into a useful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336792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EB2D0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36792"/>
            <a:ext cx="5303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EB2D0"/>
                </a:solidFill>
                <a:latin typeface="Aptos"/>
              </a:rPr>
              <a:t>AI-Assisted Threat Detection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93392"/>
            <a:ext cx="1901952" cy="210312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7D5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5727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7D5FF"/>
                </a:solidFill>
                <a:latin typeface="Aptos"/>
              </a:rPr>
              <a:t>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46120"/>
            <a:ext cx="1444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F4F8FF"/>
                </a:solidFill>
                <a:latin typeface="Aptos"/>
              </a:rPr>
              <a:t>Security activity enters the system.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834640"/>
            <a:ext cx="32918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928" y="1993392"/>
            <a:ext cx="1901952" cy="210312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0" y="2240280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A76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43200"/>
            <a:ext cx="15727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A76FF"/>
                </a:solidFill>
                <a:latin typeface="Aptos"/>
              </a:rP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246120"/>
            <a:ext cx="1444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F4F8FF"/>
                </a:solidFill>
                <a:latin typeface="Aptos"/>
              </a:rPr>
              <a:t>Context and behavior are extracted.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834640"/>
            <a:ext cx="32918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8928" y="1993392"/>
            <a:ext cx="1901952" cy="210312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2240280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D5B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743200"/>
            <a:ext cx="15727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9D5BFF"/>
                </a:solidFill>
                <a:latin typeface="Aptos"/>
              </a:rPr>
              <a:t>ANOMALY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3246120"/>
            <a:ext cx="1444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F4F8FF"/>
                </a:solidFill>
                <a:latin typeface="Aptos"/>
              </a:rPr>
              <a:t>Unusual patterns receive a score.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834640"/>
            <a:ext cx="32918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24927" y="1993392"/>
            <a:ext cx="1901952" cy="210312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19" y="2240280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AE48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2743200"/>
            <a:ext cx="15727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AE48"/>
                </a:solidFill>
                <a:latin typeface="Aptos"/>
              </a:rPr>
              <a:t>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7" y="3246120"/>
            <a:ext cx="1444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F4F8FF"/>
                </a:solidFill>
                <a:latin typeface="Aptos"/>
              </a:rPr>
              <a:t>Impact and confidence shape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7" y="2834640"/>
            <a:ext cx="32918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10928" y="1993392"/>
            <a:ext cx="1901952" cy="210312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19" y="2240280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1DC8B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2743200"/>
            <a:ext cx="15727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1DC8B"/>
                </a:solidFill>
                <a:latin typeface="Aptos"/>
              </a:rPr>
              <a:t>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3246120"/>
            <a:ext cx="1444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F4F8FF"/>
                </a:solidFill>
                <a:latin typeface="Aptos"/>
              </a:rPr>
              <a:t>Analyst gets a concise, actionable signal.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57400" y="4663440"/>
            <a:ext cx="8046720" cy="676656"/>
          </a:xfrm>
          <a:prstGeom prst="roundRect">
            <a:avLst>
              <a:gd name="adj" fmla="val 8000"/>
            </a:avLst>
          </a:prstGeom>
          <a:solidFill>
            <a:srgbClr val="13233E"/>
          </a:solidFill>
          <a:ln>
            <a:solidFill>
              <a:srgbClr val="13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86000" y="4773168"/>
            <a:ext cx="7589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F"/>
                </a:solidFill>
                <a:latin typeface="Aptos"/>
              </a:rPr>
              <a:t>AI SUPPORTS THE ANALYST  •  it reduces noise, highlights patterns and keeps decisions reviewable.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C8B"/>
          </a:solidFill>
          <a:ln>
            <a:solidFill>
              <a:srgbClr val="31D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1DC8B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1DC8B"/>
                </a:solidFill>
                <a:latin typeface="Aptos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Aptos"/>
              </a:rPr>
              <a:t>Incident Response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EB2D0"/>
                </a:solidFill>
                <a:latin typeface="Aptos"/>
              </a:rPr>
              <a:t>From the first alert to a closed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336792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EB2D0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36792"/>
            <a:ext cx="5303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EB2D0"/>
                </a:solidFill>
                <a:latin typeface="Aptos"/>
              </a:rPr>
              <a:t>AI-Assisted Threat Detection Dashboard</a:t>
            </a:r>
          </a:p>
        </p:txBody>
      </p:sp>
      <p:sp>
        <p:nvSpPr>
          <p:cNvPr id="9" name="Oval 8"/>
          <p:cNvSpPr/>
          <p:nvPr/>
        </p:nvSpPr>
        <p:spPr>
          <a:xfrm>
            <a:off x="804671" y="2340864"/>
            <a:ext cx="987552" cy="987552"/>
          </a:xfrm>
          <a:prstGeom prst="ellipse">
            <a:avLst/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560320"/>
            <a:ext cx="530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60D1D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47872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7D5FF"/>
                </a:solidFill>
                <a:latin typeface="Aptos"/>
              </a:rPr>
              <a:t>DETECTED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2834640"/>
            <a:ext cx="914400" cy="0"/>
          </a:xfrm>
          <a:prstGeom prst="line">
            <a:avLst/>
          </a:prstGeom>
          <a:ln w="25400">
            <a:solidFill>
              <a:srgbClr val="9EB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31720" y="264261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3063239" y="2340864"/>
            <a:ext cx="987552" cy="987552"/>
          </a:xfrm>
          <a:prstGeom prst="ellipse">
            <a:avLst/>
          </a:prstGeom>
          <a:solidFill>
            <a:srgbClr val="4A76FF"/>
          </a:solidFill>
          <a:ln>
            <a:solidFill>
              <a:srgbClr val="4A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2560320"/>
            <a:ext cx="530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60D1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547872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4A76FF"/>
                </a:solidFill>
                <a:latin typeface="Aptos"/>
              </a:rPr>
              <a:t>REVIEWED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87368" y="2834640"/>
            <a:ext cx="914400" cy="0"/>
          </a:xfrm>
          <a:prstGeom prst="line">
            <a:avLst/>
          </a:prstGeom>
          <a:ln w="25400">
            <a:solidFill>
              <a:srgbClr val="9EB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90288" y="264261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5321808" y="2340864"/>
            <a:ext cx="987552" cy="987552"/>
          </a:xfrm>
          <a:prstGeom prst="ellipse">
            <a:avLst/>
          </a:prstGeom>
          <a:solidFill>
            <a:srgbClr val="9D5BFF"/>
          </a:solidFill>
          <a:ln>
            <a:solidFill>
              <a:srgbClr val="9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0408" y="2560320"/>
            <a:ext cx="530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60D1D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3547872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9D5BFF"/>
                </a:solidFill>
                <a:latin typeface="Aptos"/>
              </a:rPr>
              <a:t>INVESTIGATED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45936" y="2834640"/>
            <a:ext cx="914400" cy="0"/>
          </a:xfrm>
          <a:prstGeom prst="line">
            <a:avLst/>
          </a:prstGeom>
          <a:ln w="25400">
            <a:solidFill>
              <a:srgbClr val="9EB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48856" y="264261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7580375" y="2340864"/>
            <a:ext cx="987552" cy="987552"/>
          </a:xfrm>
          <a:prstGeom prst="ellipse">
            <a:avLst/>
          </a:prstGeom>
          <a:solidFill>
            <a:srgbClr val="FFAE48"/>
          </a:solidFill>
          <a:ln>
            <a:solidFill>
              <a:srgbClr val="FFA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08975" y="2560320"/>
            <a:ext cx="530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60D1D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3" y="3547872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AE48"/>
                </a:solidFill>
                <a:latin typeface="Aptos"/>
              </a:rPr>
              <a:t>PRIORITIZED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04504" y="2834640"/>
            <a:ext cx="914400" cy="0"/>
          </a:xfrm>
          <a:prstGeom prst="line">
            <a:avLst/>
          </a:prstGeom>
          <a:ln w="25400">
            <a:solidFill>
              <a:srgbClr val="9EB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07424" y="264261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EB2D0"/>
                </a:solidFill>
                <a:latin typeface="Aptos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9838944" y="2340864"/>
            <a:ext cx="987552" cy="987552"/>
          </a:xfrm>
          <a:prstGeom prst="ellipse">
            <a:avLst/>
          </a:prstGeom>
          <a:solidFill>
            <a:srgbClr val="31DC8B"/>
          </a:solidFill>
          <a:ln>
            <a:solidFill>
              <a:srgbClr val="31D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67544" y="2560320"/>
            <a:ext cx="530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60D1D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3547872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31DC8B"/>
                </a:solidFill>
                <a:latin typeface="Aptos"/>
              </a:rPr>
              <a:t>RESOLVED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4370832"/>
            <a:ext cx="8183879" cy="841248"/>
          </a:xfrm>
          <a:prstGeom prst="roundRect">
            <a:avLst>
              <a:gd name="adj" fmla="val 8000"/>
            </a:avLst>
          </a:prstGeom>
          <a:solidFill>
            <a:srgbClr val="13233E"/>
          </a:solidFill>
          <a:ln>
            <a:solidFill>
              <a:srgbClr val="13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40280" y="4590288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EB2D0"/>
                </a:solidFill>
                <a:latin typeface="Aptos"/>
              </a:rPr>
              <a:t>Outcome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562856"/>
            <a:ext cx="6446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F"/>
                </a:solidFill>
                <a:latin typeface="Aptos"/>
              </a:rPr>
              <a:t>Less searching  •  clearer context  •  faster triage  •  traceable resolution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D5FF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7D5FF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7D5FF"/>
                </a:solidFill>
                <a:latin typeface="Aptos"/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Aptos"/>
              </a:rPr>
              <a:t>Benefits &amp;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EB2D0"/>
                </a:solidFill>
                <a:latin typeface="Aptos"/>
              </a:rPr>
              <a:t>Where this project creates practical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336792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EB2D0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36792"/>
            <a:ext cx="5303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EB2D0"/>
                </a:solidFill>
                <a:latin typeface="Aptos"/>
              </a:rPr>
              <a:t>AI-Assisted Threat Detection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28800"/>
            <a:ext cx="3310128" cy="150876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5740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7D5FF"/>
                </a:solidFill>
                <a:latin typeface="Aptos"/>
              </a:rPr>
              <a:t>SOC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Centralized visibility of security activity.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828800"/>
            <a:ext cx="3310128" cy="150876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05740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5269"/>
                </a:solidFill>
                <a:latin typeface="Aptos"/>
              </a:rPr>
              <a:t>THREAT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48716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Focus first on high-risk 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3310128" cy="150876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5" y="205740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D5BFF"/>
                </a:solidFill>
                <a:latin typeface="Aptos"/>
              </a:rPr>
              <a:t>ANOMALY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48716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Surface behavior that looks unusual.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703320"/>
            <a:ext cx="3310128" cy="150876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93192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AE48"/>
                </a:solidFill>
                <a:latin typeface="Aptos"/>
              </a:rPr>
              <a:t>INCIDENT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36168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Support investigation and resolution.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544" y="3703320"/>
            <a:ext cx="3310128" cy="150876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35424" y="393192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A76FF"/>
                </a:solidFill>
                <a:latin typeface="Aptos"/>
              </a:rPr>
              <a:t>SECURITY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436168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Summarize status for teams and management.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3703320"/>
            <a:ext cx="3310128" cy="150876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5" y="393192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1DC8B"/>
                </a:solidFill>
                <a:latin typeface="Aptos"/>
              </a:rPr>
              <a:t>CONTINUOUS AWARENESS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436168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Track changing threat activity over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61488" y="5486400"/>
            <a:ext cx="6629400" cy="365760"/>
          </a:xfrm>
          <a:prstGeom prst="roundRect">
            <a:avLst>
              <a:gd name="adj" fmla="val 8000"/>
            </a:avLst>
          </a:prstGeom>
          <a:solidFill>
            <a:srgbClr val="13233E"/>
          </a:solidFill>
          <a:ln>
            <a:solidFill>
              <a:srgbClr val="13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44368" y="5532120"/>
            <a:ext cx="6263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7D5FF"/>
                </a:solidFill>
                <a:latin typeface="Aptos"/>
              </a:rPr>
              <a:t>VALUE → better visibility • faster triage • clearer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5BFF"/>
          </a:solidFill>
          <a:ln>
            <a:solidFill>
              <a:srgbClr val="9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D5BFF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0896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9D5B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Aptos"/>
              </a:rPr>
              <a:t>Impact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EB2D0"/>
                </a:solidFill>
                <a:latin typeface="Aptos"/>
              </a:rPr>
              <a:t>A strong closing slide for project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336792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EB2D0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36792"/>
            <a:ext cx="5303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EB2D0"/>
                </a:solidFill>
                <a:latin typeface="Aptos"/>
              </a:rPr>
              <a:t>AI-Assisted Threat Detection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5257800" cy="269748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0312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1DC8B"/>
                </a:solidFill>
                <a:latin typeface="Aptos"/>
              </a:rPr>
              <a:t>PROJECT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96896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1DC8B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2578608"/>
            <a:ext cx="4069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Faster threat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26663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1DC8B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3008376"/>
            <a:ext cx="4069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Reduced alert fatigue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1DC8B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3438144"/>
            <a:ext cx="4069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Better investigation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1DC8B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867911"/>
            <a:ext cx="4069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More consistent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847088"/>
            <a:ext cx="5257800" cy="2697480"/>
          </a:xfrm>
          <a:prstGeom prst="roundRect">
            <a:avLst>
              <a:gd name="adj" fmla="val 8000"/>
            </a:avLst>
          </a:prstGeom>
          <a:solidFill>
            <a:srgbClr val="0D192F"/>
          </a:solidFill>
          <a:ln>
            <a:solidFill>
              <a:srgbClr val="0D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10312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7D5FF"/>
                </a:solidFill>
                <a:latin typeface="Aptos"/>
              </a:rPr>
              <a:t>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596896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7D5FF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578608"/>
            <a:ext cx="4069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Threat-intelligence enrichment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026663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7D5FF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008376"/>
            <a:ext cx="4069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Behavior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456432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7D5FF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438144"/>
            <a:ext cx="4069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Automated response playbooks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886200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7D5FF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3867911"/>
            <a:ext cx="4069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Explainable AI + analyst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892040"/>
            <a:ext cx="6446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4F8FF"/>
                </a:solidFill>
                <a:latin typeface="Aptos"/>
              </a:rPr>
              <a:t>AI finds the signal.
The dashboard explains it.
The analyst makes the decision.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742432"/>
            <a:ext cx="37490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7D5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641</Words>
  <Application>Microsoft Office PowerPoint</Application>
  <PresentationFormat>Widescreen</PresentationFormat>
  <Paragraphs>212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Varsha Dhavalagimath</cp:lastModifiedBy>
  <cp:revision>2</cp:revision>
  <dcterms:created xsi:type="dcterms:W3CDTF">2013-01-27T09:14:16Z</dcterms:created>
  <dcterms:modified xsi:type="dcterms:W3CDTF">2026-09-01T11:42:31Z</dcterms:modified>
  <cp:category/>
</cp:coreProperties>
</file>